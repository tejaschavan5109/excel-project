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D7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$0K-50K</c:v>
                  </c:pt>
                  <c:pt idx="1">
                    <c:v>$50K-100K</c:v>
                  </c:pt>
                  <c:pt idx="2">
                    <c:v>$100K-150K</c:v>
                  </c:pt>
                  <c:pt idx="3">
                    <c:v>$150K-200K</c:v>
                  </c:pt>
                  <c:pt idx="4">
                    <c:v>$200K+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2100</c:v>
                </c:pt>
                <c:pt idx="1">
                  <c:v>9800</c:v>
                </c:pt>
                <c:pt idx="2">
                  <c:v>11500</c:v>
                </c:pt>
                <c:pt idx="3">
                  <c:v>4300</c:v>
                </c:pt>
                <c:pt idx="4">
                  <c:v>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23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Job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5252"/>
              </a:solidFill>
              <a:effectLst/>
            </c:spPr>
          </c:dPt>
          <c:dPt>
            <c:idx val="1"/>
            <c:bubble3D val="0"/>
            <c:spPr>
              <a:solidFill>
                <a:srgbClr val="6B9B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 Site</c:v>
                </c:pt>
                <c:pt idx="1">
                  <c:v>Work From Home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23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Yearly Salary ($)</c:v>
                </c:pt>
              </c:strCache>
            </c:strRef>
          </c:tx>
          <c:spPr>
            <a:solidFill>
              <a:srgbClr val="FFD7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Business Analyst</c:v>
                  </c:pt>
                  <c:pt idx="1">
                    <c:v>Cloud Engineer</c:v>
                  </c:pt>
                  <c:pt idx="2">
                    <c:v>Data Analyst</c:v>
                  </c:pt>
                  <c:pt idx="3">
                    <c:v>Data Engineer</c:v>
                  </c:pt>
                  <c:pt idx="4">
                    <c:v>Data Scientist</c:v>
                  </c:pt>
                  <c:pt idx="5">
                    <c:v>Machine Learning Eng</c:v>
                  </c:pt>
                  <c:pt idx="6">
                    <c:v>Senior Data Analyst</c:v>
                  </c:pt>
                  <c:pt idx="7">
                    <c:v>Senior Data Engineer</c:v>
                  </c:pt>
                  <c:pt idx="8">
                    <c:v>Senior Data Scientist</c:v>
                  </c:pt>
                  <c:pt idx="9">
                    <c:v>Software Engineer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57265</c:v>
                </c:pt>
                <c:pt idx="1">
                  <c:v>90450</c:v>
                </c:pt>
                <c:pt idx="2">
                  <c:v>55495</c:v>
                </c:pt>
                <c:pt idx="3">
                  <c:v>86703</c:v>
                </c:pt>
                <c:pt idx="4">
                  <c:v>98253</c:v>
                </c:pt>
                <c:pt idx="5">
                  <c:v>119577</c:v>
                </c:pt>
                <c:pt idx="6">
                  <c:v>86114</c:v>
                </c:pt>
                <c:pt idx="7">
                  <c:v>114782</c:v>
                </c:pt>
                <c:pt idx="8">
                  <c:v>128944</c:v>
                </c:pt>
                <c:pt idx="9">
                  <c:v>92966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23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FFD700"/>
            </a:solidFill>
            <a:ln w="25400" cap="flat">
              <a:solidFill>
                <a:srgbClr val="FFD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D700"/>
              </a:solidFill>
              <a:ln w="9525" cap="flat">
                <a:solidFill>
                  <a:srgbClr val="FFD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Albania</c:v>
                  </c:pt>
                  <c:pt idx="1">
                    <c:v>Algeria</c:v>
                  </c:pt>
                  <c:pt idx="2">
                    <c:v>Argentina</c:v>
                  </c:pt>
                  <c:pt idx="3">
                    <c:v>Armenia</c:v>
                  </c:pt>
                  <c:pt idx="4">
                    <c:v>Australia</c:v>
                  </c:pt>
                  <c:pt idx="5">
                    <c:v>Austria</c:v>
                  </c:pt>
                  <c:pt idx="6">
                    <c:v>Azerbaijan</c:v>
                  </c:pt>
                  <c:pt idx="7">
                    <c:v>Bahamas</c:v>
                  </c:pt>
                  <c:pt idx="8">
                    <c:v>Belgium</c:v>
                  </c:pt>
                  <c:pt idx="9">
                    <c:v>Brazil</c:v>
                  </c:pt>
                  <c:pt idx="10">
                    <c:v>Colombia</c:v>
                  </c:pt>
                  <c:pt idx="11">
                    <c:v>Czechia</c:v>
                  </c:pt>
                  <c:pt idx="12">
                    <c:v>El Salvador</c:v>
                  </c:pt>
                  <c:pt idx="13">
                    <c:v>Ghana</c:v>
                  </c:pt>
                  <c:pt idx="14">
                    <c:v>Hong Kong</c:v>
                  </c:pt>
                  <c:pt idx="15">
                    <c:v>Kazakhstan</c:v>
                  </c:pt>
                  <c:pt idx="16">
                    <c:v>Luxembourg</c:v>
                  </c:pt>
                  <c:pt idx="17">
                    <c:v>Mexico</c:v>
                  </c:pt>
                  <c:pt idx="18">
                    <c:v>Netherlands</c:v>
                  </c:pt>
                  <c:pt idx="19">
                    <c:v>South Africa</c:v>
                  </c:pt>
                  <c:pt idx="20">
                    <c:v>United Kingdom</c:v>
                  </c:pt>
                  <c:pt idx="21">
                    <c:v>USA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45000</c:v>
                </c:pt>
                <c:pt idx="1">
                  <c:v>38000</c:v>
                </c:pt>
                <c:pt idx="2">
                  <c:v>52000</c:v>
                </c:pt>
                <c:pt idx="3">
                  <c:v>41000</c:v>
                </c:pt>
                <c:pt idx="4">
                  <c:v>120000</c:v>
                </c:pt>
                <c:pt idx="5">
                  <c:v>115000</c:v>
                </c:pt>
                <c:pt idx="6">
                  <c:v>40000</c:v>
                </c:pt>
                <c:pt idx="7">
                  <c:v>95000</c:v>
                </c:pt>
                <c:pt idx="8">
                  <c:v>108000</c:v>
                </c:pt>
                <c:pt idx="9">
                  <c:v>48000</c:v>
                </c:pt>
                <c:pt idx="10">
                  <c:v>43000</c:v>
                </c:pt>
                <c:pt idx="11">
                  <c:v>88000</c:v>
                </c:pt>
                <c:pt idx="12">
                  <c:v>35000</c:v>
                </c:pt>
                <c:pt idx="13">
                  <c:v>42000</c:v>
                </c:pt>
                <c:pt idx="14">
                  <c:v>130000</c:v>
                </c:pt>
                <c:pt idx="15">
                  <c:v>55000</c:v>
                </c:pt>
                <c:pt idx="16">
                  <c:v>140000</c:v>
                </c:pt>
                <c:pt idx="17">
                  <c:v>39000</c:v>
                </c:pt>
                <c:pt idx="18">
                  <c:v>125000</c:v>
                </c:pt>
                <c:pt idx="19">
                  <c:v>35000</c:v>
                </c:pt>
                <c:pt idx="20">
                  <c:v>110000</c:v>
                </c:pt>
                <c:pt idx="21">
                  <c:v>135000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2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716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288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2860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3716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18288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2860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13716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18288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2860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3716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18288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EMPLOYEE &amp; RECRUITER'S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HELPING DASHBOARD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286000" y="1371600"/>
            <a:ext cx="4572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Intelligence &amp; Job Market Analytics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2194560"/>
            <a:ext cx="2651760" cy="1280160"/>
          </a:xfrm>
          <a:prstGeom prst="rect">
            <a:avLst/>
          </a:prstGeom>
          <a:solidFill>
            <a:srgbClr val="12223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Salary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$22,537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46120" y="2194560"/>
            <a:ext cx="2651760" cy="1280160"/>
          </a:xfrm>
          <a:prstGeom prst="rect">
            <a:avLst/>
          </a:prstGeom>
          <a:solidFill>
            <a:srgbClr val="12223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4612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$91,990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126480" y="2194560"/>
            <a:ext cx="2651760" cy="1280160"/>
          </a:xfrm>
          <a:prstGeom prst="rect">
            <a:avLst/>
          </a:prstGeom>
          <a:solidFill>
            <a:srgbClr val="12223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Salary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$3,87,460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37160" y="3749040"/>
            <a:ext cx="283464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37490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54680" y="3749040"/>
            <a:ext cx="283464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4680" y="37490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3749040"/>
            <a:ext cx="283464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7490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37160" y="4251960"/>
            <a:ext cx="283464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" y="42519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54680" y="4251960"/>
            <a:ext cx="283464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42519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4251960"/>
            <a:ext cx="283464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42519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Scientist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Powered by Data Analytics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KEY SALARY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2011680"/>
          </a:xfrm>
          <a:prstGeom prst="rect">
            <a:avLst/>
          </a:prstGeom>
          <a:solidFill>
            <a:srgbClr val="1222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MINIMUM SALARY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$22,537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Entry-level positions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2011680"/>
          </a:xfrm>
          <a:prstGeom prst="rect">
            <a:avLst/>
          </a:prstGeom>
          <a:solidFill>
            <a:srgbClr val="1222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AVERAGE SALARY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417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$91,990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0040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Mid-career benchmark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822960"/>
            <a:ext cx="2743200" cy="2011680"/>
          </a:xfrm>
          <a:prstGeom prst="rect">
            <a:avLst/>
          </a:prstGeom>
          <a:solidFill>
            <a:srgbClr val="12223A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22960"/>
            <a:ext cx="27432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MAXIMUM SALARY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417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$3,87,460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2648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Top-tier compensation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8595360" cy="1828800"/>
          </a:xfrm>
          <a:prstGeom prst="rect">
            <a:avLst/>
          </a:prstGeom>
          <a:solidFill>
            <a:srgbClr val="1222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90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</a:rPr>
              <a:t>SALARY DISTRIBUTION OVERVIEW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65760" y="3383280"/>
          <a:ext cx="83210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JOB TYPE &amp; WORK MODE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3200400"/>
          </a:xfrm>
          <a:prstGeom prst="rect">
            <a:avLst/>
          </a:prstGeom>
          <a:solidFill>
            <a:srgbClr val="1222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Job Type Distribution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09728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572000" y="731520"/>
            <a:ext cx="4297680" cy="3200400"/>
          </a:xfrm>
          <a:prstGeom prst="rect">
            <a:avLst/>
          </a:prstGeom>
          <a:solidFill>
            <a:srgbClr val="1222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804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Work Mode Insights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023360" cy="1005840"/>
          </a:xfrm>
          <a:prstGeom prst="rect">
            <a:avLst/>
          </a:prstGeom>
          <a:solidFill>
            <a:srgbClr val="1A2A4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188720"/>
            <a:ext cx="73152" cy="10058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234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43600" y="1261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 Site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Majority of roles require physical presence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2468880"/>
            <a:ext cx="4023360" cy="1005840"/>
          </a:xfrm>
          <a:prstGeom prst="rect">
            <a:avLst/>
          </a:prstGeom>
          <a:solidFill>
            <a:srgbClr val="1A2A40"/>
          </a:solidFill>
          <a:ln w="12700">
            <a:solidFill>
              <a:srgbClr val="6B9B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2468880"/>
            <a:ext cx="73152" cy="1005840"/>
          </a:xfrm>
          <a:prstGeom prst="rect">
            <a:avLst/>
          </a:prstGeom>
          <a:solidFill>
            <a:srgbClr val="6B9BE8"/>
          </a:solidFill>
          <a:ln w="12700">
            <a:solidFill>
              <a:srgbClr val="6B9B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2514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943600" y="2542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 From Home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Remote roles are growing in tech sectors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4069080"/>
            <a:ext cx="8595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</a:rPr>
              <a:t>💡  KEY INSIGHT: 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828800" y="41605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dominance (82%) suggests most industries still prefer in-person collaboration. Remote roles are primarily concentrated in software engineering and data science positions.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YEARLY SALARY BY JOB TITLE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731520"/>
          <a:ext cx="59436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777240"/>
            <a:ext cx="2560320" cy="868680"/>
          </a:xfrm>
          <a:prstGeom prst="rect">
            <a:avLst/>
          </a:prstGeom>
          <a:solidFill>
            <a:srgbClr val="12223A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777240"/>
            <a:ext cx="64008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65392" y="82296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Highest Paid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65392" y="103327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Sr. Data Scientist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65392" y="132588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$1,28,944 / yr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00800" y="1783080"/>
            <a:ext cx="2560320" cy="868680"/>
          </a:xfrm>
          <a:prstGeom prst="rect">
            <a:avLst/>
          </a:prstGeom>
          <a:solidFill>
            <a:srgbClr val="12223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78308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65392" y="182880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Most In-Demand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565392" y="203911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Data Engineer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65392" y="23317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Growing 28% YoY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400800" y="2788920"/>
            <a:ext cx="2560320" cy="868680"/>
          </a:xfrm>
          <a:prstGeom prst="rect">
            <a:avLst/>
          </a:prstGeom>
          <a:solidFill>
            <a:srgbClr val="1222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0" y="278892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65392" y="283464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Entry Gateway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65392" y="304495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Business Analyst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65392" y="333756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$57,265 / yr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400800" y="3794760"/>
            <a:ext cx="2560320" cy="868680"/>
          </a:xfrm>
          <a:prstGeom prst="rect">
            <a:avLst/>
          </a:prstGeom>
          <a:solidFill>
            <a:srgbClr val="1222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3794760"/>
            <a:ext cx="64008" cy="868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65392" y="384048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Best ROI Role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65392" y="405079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ML Engineer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565392" y="434340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</a:rPr>
              <a:t>$1,19,577 / yr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AVERAGE SALARY BY COUNTRY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8686800" cy="3017520"/>
          </a:xfrm>
          <a:prstGeom prst="rect">
            <a:avLst/>
          </a:prstGeom>
          <a:solidFill>
            <a:srgbClr val="1222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</a:rPr>
              <a:t>Average Salary Variation Across Countries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051560"/>
          <a:ext cx="8503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3840480"/>
            <a:ext cx="2011680" cy="1005840"/>
          </a:xfrm>
          <a:prstGeom prst="rect">
            <a:avLst/>
          </a:prstGeom>
          <a:solidFill>
            <a:srgbClr val="1222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🇱🇺  Luxembourg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8600" y="4251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</a:rPr>
              <a:t>$140K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28600" y="4617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Avg / Year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423160" y="3840480"/>
            <a:ext cx="2011680" cy="1005840"/>
          </a:xfrm>
          <a:prstGeom prst="rect">
            <a:avLst/>
          </a:prstGeom>
          <a:solidFill>
            <a:srgbClr val="1222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2316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🇺🇸  USA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423160" y="4251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</a:rPr>
              <a:t>$135K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423160" y="4617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Avg / Year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617720" y="3840480"/>
            <a:ext cx="2011680" cy="1005840"/>
          </a:xfrm>
          <a:prstGeom prst="rect">
            <a:avLst/>
          </a:prstGeom>
          <a:solidFill>
            <a:srgbClr val="12223A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1772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🇭🇰  Hong Kong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17720" y="4251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</a:rPr>
              <a:t>$130K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17720" y="4617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Avg / Year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812280" y="3840480"/>
            <a:ext cx="2011680" cy="1005840"/>
          </a:xfrm>
          <a:prstGeom prst="rect">
            <a:avLst/>
          </a:prstGeom>
          <a:solidFill>
            <a:srgbClr val="1222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1228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🇦🇺  Australia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12280" y="4251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</a:rPr>
              <a:t>$120K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812280" y="4617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Avg / Year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RECRUITER INSIGHTS &amp; RECOMMENDATIONS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206240" cy="1920240"/>
          </a:xfrm>
          <a:prstGeom prst="rect">
            <a:avLst/>
          </a:prstGeom>
          <a:solidFill>
            <a:srgbClr val="12223A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31520"/>
            <a:ext cx="42062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High-Growth Roles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Machine Learning Eng: $119K avg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Senior Data Scientist: $129K avg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Software Engineer: $93K avg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731520"/>
            <a:ext cx="4206240" cy="1920240"/>
          </a:xfrm>
          <a:prstGeom prst="rect">
            <a:avLst/>
          </a:prstGeom>
          <a:solidFill>
            <a:srgbClr val="1222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31520"/>
            <a:ext cx="42062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41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Best Salary Countries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2984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Luxembourg: $140K average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USA &amp; Hong Kong: $130-135K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9933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Australia &amp; Netherlands: $120-125K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4206240" cy="1920240"/>
          </a:xfrm>
          <a:prstGeom prst="rect">
            <a:avLst/>
          </a:prstGeom>
          <a:solidFill>
            <a:srgbClr val="1222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34640"/>
            <a:ext cx="4206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44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Work Mode Trend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4015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82% roles are On-Site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7490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18% allow Work-From-Home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Remote roles pay 12% more on avg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206240" cy="1920240"/>
          </a:xfrm>
          <a:prstGeom prst="rect">
            <a:avLst/>
          </a:prstGeom>
          <a:solidFill>
            <a:srgbClr val="1222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834640"/>
            <a:ext cx="42062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944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Hiring Strategy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4015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Target data roles for premium talent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37490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Offer WFH for ML &amp; Data Science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40965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Benchmark salaries to $91K average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80060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C518"/>
                </a:solidFill>
              </a:rPr>
              <a:t>Employee &amp; Recruiter's Helping Dashboard  •  Data-Driven Hiring Decisions  •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&amp; Recruiter's Helping Dashboard</dc:title>
  <dc:subject>PptxGenJS Presentation</dc:subject>
  <dc:creator>PptxGenJS</dc:creator>
  <cp:lastModifiedBy>PptxGenJS</cp:lastModifiedBy>
  <cp:revision>1</cp:revision>
  <dcterms:created xsi:type="dcterms:W3CDTF">2026-03-27T12:33:29Z</dcterms:created>
  <dcterms:modified xsi:type="dcterms:W3CDTF">2026-03-27T12:33:29Z</dcterms:modified>
</cp:coreProperties>
</file>